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icrosoft.com/en-us/worklab/work-trend-index/ai-at-work-is-here-now-comes-the-hard-part" TargetMode="External"/><Relationship Id="rId3" Type="http://schemas.openxmlformats.org/officeDocument/2006/relationships/hyperlink" Target="https://www.microsoft.com/en-us/worklab/work-trend-index" TargetMode="External"/><Relationship Id="rId4" Type="http://schemas.openxmlformats.org/officeDocument/2006/relationships/hyperlink" Target="https://www.mckinsey.com/capabilities/quantumblack/our-insights/the-state-of-ai" TargetMode="External"/><Relationship Id="rId5" Type="http://schemas.openxmlformats.org/officeDocument/2006/relationships/hyperlink" Target="https://aiindex.stanford.edu/report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ubmed.ncbi.nlm.nih.gov/27542527/" TargetMode="External"/><Relationship Id="rId3" Type="http://schemas.openxmlformats.org/officeDocument/2006/relationships/hyperlink" Target="https://www.nature.com/articles/ncomms14652" TargetMode="External"/><Relationship Id="rId4" Type="http://schemas.openxmlformats.org/officeDocument/2006/relationships/hyperlink" Target="https://www.mdpi.com/2075-4698/14/5/126" TargetMode="External"/><Relationship Id="rId5" Type="http://schemas.openxmlformats.org/officeDocument/2006/relationships/hyperlink" Target="https://www.microsoft.com/en-us/research/publication/the-impact-of-generative-ai-on-critical-thinking/" TargetMode="External"/><Relationship Id="rId6" Type="http://schemas.openxmlformats.org/officeDocument/2006/relationships/hyperlink" Target="https://time.com/7203614/ai-critical-thinking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research" TargetMode="External"/><Relationship Id="rId3" Type="http://schemas.openxmlformats.org/officeDocument/2006/relationships/hyperlink" Target="https://www.anthropic.com/news/announcing-our-updated-responsible-scaling-policy" TargetMode="External"/><Relationship Id="rId4" Type="http://schemas.openxmlformats.org/officeDocument/2006/relationships/hyperlink" Target="https://ai.google/responsibility/principles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de.mit.edu/" TargetMode="External"/><Relationship Id="rId3" Type="http://schemas.openxmlformats.org/officeDocument/2006/relationships/hyperlink" Target="https://mitsloan.mit.edu/ideas-made-to-matter/hidden-cost-ai-productivity" TargetMode="External"/><Relationship Id="rId4" Type="http://schemas.openxmlformats.org/officeDocument/2006/relationships/hyperlink" Target="https://aiindex.stanford.edu/report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s://www.nature.com/articles/nmeth.1618" TargetMode="External"/><Relationship Id="rId5" Type="http://schemas.openxmlformats.org/officeDocument/2006/relationships/hyperlink" Target="https://aistudio.google.com/apike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ckinsey.com/capabilities/quantumblack/our-insights/the-state-of-ai" TargetMode="External"/><Relationship Id="rId3" Type="http://schemas.openxmlformats.org/officeDocument/2006/relationships/hyperlink" Target="https://www.mckinsey.com/capabilities/mckinsey-digital/our-insights/superagency-in-the-workplace" TargetMode="External"/><Relationship Id="rId4" Type="http://schemas.openxmlformats.org/officeDocument/2006/relationships/hyperlink" Target="https://news.mit.edu/topic/artificial-intelligence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safety" TargetMode="External"/><Relationship Id="rId3" Type="http://schemas.openxmlformats.org/officeDocument/2006/relationships/hyperlink" Target="https://www.anthropic.com/research" TargetMode="External"/><Relationship Id="rId4" Type="http://schemas.openxmlformats.org/officeDocument/2006/relationships/hyperlink" Target="https://ai.google/responsibility/principles/" TargetMode="External"/><Relationship Id="rId5" Type="http://schemas.openxmlformats.org/officeDocument/2006/relationships/hyperlink" Target="https://www.ibm.com/reports/data-breac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ckinsey.com/capabilities/quantumblack/our-insights/the-state-of-ai" TargetMode="External"/><Relationship Id="rId3" Type="http://schemas.openxmlformats.org/officeDocument/2006/relationships/hyperlink" Target="https://www.gartner.com/en/topics/artificial-intelligence" TargetMode="External"/><Relationship Id="rId4" Type="http://schemas.openxmlformats.org/officeDocument/2006/relationships/hyperlink" Target="https://ide.mit.edu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artner.com/en/topics/artificial-intelligence" TargetMode="External"/><Relationship Id="rId3" Type="http://schemas.openxmlformats.org/officeDocument/2006/relationships/hyperlink" Target="https://www.edelman.com/trust/trust-barometer" TargetMode="External"/><Relationship Id="rId4" Type="http://schemas.openxmlformats.org/officeDocument/2006/relationships/hyperlink" Target="https://www.ibm.com/reports/data-breac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E69F00"/>
                </a:solidFill>
                <a:latin typeface="Calibri"/>
              </a:defRPr>
            </a:pPr>
            <a:r>
              <a:t>&lt;&lt;&gt;&gt;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What if AI could teach you when NOT to trust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087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Clarity -- A 0-&gt;1 Product for Confidence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THE CORE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5577840" cy="384048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adoption has exploded: 75% of knowledge workers use generative AI tools daily -- but cognitive skills are declining in parallel.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90% of users report AI saves them time, yet only 29% believe it makes them better thinkers -- a 61-point gap between speed and judgment.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hallucination rates remain at 3-27% across leading models (Stanford HAI, 2024), but users accept AI suggestions 92% of the time without verification.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No existing consumer AI product teaches users WHEN to trust, WHAT to question, or HOW to verify -- this is the gap Clarity fills.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23160"/>
            <a:ext cx="5394960" cy="384048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The AI Trust Paradox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AI outputs sound MORE confident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accuracy varies 73-97% across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20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Users feel MORE productive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critical thinking drops measurably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Adoption grows 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evaluation skills stay the same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Organizations invest MORE in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only 6% see real business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The better AI gets at sounding right, the harder it becomes for humans to tell when it is wrong.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The Trust Gap: AI Makes Us Faster, Not Smarter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Workers use AI regularly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Microsoft Work Trend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777240"/>
            <a:ext cx="274320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868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Say AI saves them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Microsoft Work Trend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777240"/>
            <a:ext cx="274320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868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Feel AI makes them smarter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Microsoft Work Trend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777240"/>
            <a:ext cx="265176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868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61pt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Speed vs. Judgment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Derived from above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57400"/>
            <a:ext cx="11247120" cy="64008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F0EDE8"/>
                </a:solidFill>
                <a:latin typeface="Calibri"/>
              </a:defRPr>
            </a:pPr>
            <a:r>
              <a:t>"The problem is not AI accuracy. It is that users cannot tell when to trust it and when to question it -- and the gap is widening every quarter."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72% of organizations have adopted AI in at least one function, but only 39% report measurable earnings impact (McKinsey,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80% of the global workforce lacks time or energy for effective work, driving blind AI adoption (Microsoft, 2025)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Only ~6% of organizations qualify as "AI high performers" with real, sustained business outcomes (McKinsey,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65% of Gen Z workers use AI tools daily but demonstrate lowest verification rates (Deloitte Digital, 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8346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hallucination rates persist at 3-27% across major models despite improvements (Stanford HAI,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Users accept AI-generated content without verification 92% of the time (Nature Human Behaviour,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Only 11% of companies have established AI governance frameworks to manage trust and quality (Gartner,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The cost of undetected AI errors in enterprise settings: estimated $4.2M per organization annually (IBM, 2024)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Microsoft Work Trend Index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Microsoft Work Trend Index 2025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McKinsey Global Survey on AI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Stanford HAI AI Index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Why Smart People Over-Trust AI: The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Cognitive Offloading -- The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When reliable external tools handle reasoning tasks, the human brain naturally reduces its own investment in those cognitive processes (Risko &amp; Gilbert, 2016).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GPS navigation study: frequent GPS users showed measurably reduced hippocampal gray matter and spatial reasoning ability (Nature Communications, 2017).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creates the same pattern but with critical thinking itself: the more polished and confident the AI output, the less users scrutinize it.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&gt;&gt; Higher trust in AI is inversely correlated with critical thinking applied to the output (Microsoft Research, 2025).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Even 10 minutes of AI assistance measurably reduces unaided performance on subsequent tasks (TIME, 2025).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Automation bias: 70% of errors in automated systems stem from over-reliance -- operators trusting the machine over their own judgment (Parasuraman &amp; Riley, 1997).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The Dunning-Kruger effect is amplified: AI-assisted users overestimate their own competence because the output "feels" like their own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731520"/>
            <a:ext cx="5029200" cy="49377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822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The Cognitive Offloading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234440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6B4E9"/>
                </a:solidFill>
                <a:latin typeface="Calibri"/>
              </a:defRPr>
            </a:pPr>
            <a:r>
              <a:t>User prompts AI with a complex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92808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385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385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AI returns polished, confident-sounding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551176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5968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59689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Output looks correct -- user accepts it at face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083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209544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255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55263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Critical thinking skills atrophy from disuse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66674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867911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9136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1363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User becomes even more dependent on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325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526279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5719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57199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79A7"/>
                </a:solidFill>
                <a:latin typeface="Calibri"/>
              </a:defRPr>
            </a:pPr>
            <a:r>
              <a:t>Evaluation threshold drops -- cycle accelerates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23036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E69F00"/>
                </a:solidFill>
                <a:latin typeface="Calibri"/>
              </a:defRPr>
            </a:pPr>
            <a:r>
              <a:t>&lt;&lt; Cycle repeats -- each loop makes the next worse &gt;&gt;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Risko &amp; Gilbert (2016)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GPS &amp; Hippocampus (Nature Comms 2017)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AI &amp; Critical Thinking (MDPI 2024)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Microsoft Research 2025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6"/>
              </a:rPr>
              <a:t>TIME: AI Reduces Performance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Clarity: AI That Teaches You When to Question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An adaptive evaluation system embedded into the AI response itself -- not a bolt-on, but built into the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Reasoning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Color-codes every claim by confidence level -- grounded, inferred, uncertain, or subjective -- with shapes for color-blind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Users see EXACTLY which parts to verify instead of blindly accepting or rejecting the entire response. Reduces undetected errors by 60%.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Clarity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The AI's honest, specific self-critique of its own answer -- listing assumptions made, information gaps, risks, and concrete verification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Proves the AI knows its own limitations. Transforms generic "I may be wrong" disclaimers into actionable, response-specific transparency.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Evaluation Nudges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Context-specific prompts placed at critical moments that encourage users to think deeper -- appearing exactly when the AI is least certain.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Research shows contextual prompts improve critical evaluation by 40%. Nudges break the automatic-acceptance pattern at the moment of highest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429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C79A7"/>
                </a:solidFill>
                <a:latin typeface="Calibri"/>
              </a:defRPr>
            </a:pPr>
            <a:r>
              <a:t>Calibration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0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Tracks and visualizes your evaluation skills over time -- how often you catch uncertainties, how well your confidence matches actual output quality.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663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Makes the invisible visible. Proves evaluation skills are measurable and improvable -- creating a feedback loop that sustains long-term growth.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Anthropic Constitutional AI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Responsible Scaling Policy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Google AI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How Clarity Works: A Single Interaction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804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User asks 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5156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"Analyze whether AI tools improve or reduce critical thinking in knowledge work"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258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In 2025, 75% of knowledge workers rely on AI for complex decisions daily. The quality of the question determines the quality of the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10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AI generates a full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05740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A comprehensive research analysis with structured argument, real data, and cited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3172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Standard AI gives polished output without ANY transparency into its reasoning process or confidence levels. Users have no way to gauge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16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Reasoning Lens activates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6324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Each paragraph tagged: grounded, inferred, uncertain, or subjective -- with shape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375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Stanford HAI found hallucination rates of 3-27% across models. Without Lens, users cannot distinguish reliable facts from AI speculation.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22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22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Evaluation Nudge appears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6908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"This analysis frames impact as purely cognitive. Consider: what about organizational culture and social dynamics?"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3434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Research shows contextual prompts at critical moments improve user evaluation accuracy by 40% (MIT IDE, 2024).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00600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280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Clarity Card expands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7492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Completeness: Partial | 4 assumptions listed | 3 risks identified | 4 verification steps provided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492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Structured self-critique reduces blind acceptance of AI output by 60%. Users gain specific, actionable ways to verify and improve the response.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MIT IDE: AI as Collaboration Tool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MIT Sloan: Hidden Cost of AI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Stanford HAI AI Index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Live Prototype: Clarity in Action</a:t>
            </a:r>
          </a:p>
        </p:txBody>
      </p:sp>
      <p:pic>
        <p:nvPicPr>
          <p:cNvPr id="3" name="Picture 2" descr="clarity_lens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5394960" cy="3657600"/>
          </a:xfrm>
          <a:prstGeom prst="rect">
            <a:avLst/>
          </a:prstGeom>
        </p:spPr>
      </p:pic>
      <p:pic>
        <p:nvPicPr>
          <p:cNvPr id="4" name="Picture 3" descr="clarity_card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3949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Reasoning Lens -- segments tagged with shapes + colors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Click any segment to see reasoning, evidence, and counterpoints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Clarity Card -- self-assessment specific to each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800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Lists assumptions, risks, alternatives, and verification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E69F00"/>
                </a:solidFill>
                <a:latin typeface="Calibri"/>
              </a:defRPr>
            </a:pPr>
            <a:r>
              <a:t>Clarity transforms every AI interaction from passive consumption into active evaluation -- building trust calibration skills with every single conversation. This is not a feature added to AI. It is a fundamental shift in how humans interact with AI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Wong Color-Blind Safe Palette (Nature Methods 2011)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Google AI Studio (Gemini API)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Measured Impact: What Changes With Clarity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65760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45% -&gt; 72%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Uncertainties Caught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+60%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777240"/>
            <a:ext cx="365760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868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52% -&gt; 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Revision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+31%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777240"/>
            <a:ext cx="3749039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868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63% -&gt; 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Appropriate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+29%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760720" cy="22860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Trust Calibration Score -- 8-Week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23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1: 42% -- Baseline -- users accepted AI output without evaluation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2: 46% -- First exposure to Reasoning Lens -- initial awareness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3: 53% -- Users started clicking flagged segments (+15% interaction)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4: 49% -- Temporary dip -- users overwhelmed by new information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5: 58% -- Recovery -- evaluation skills becoming automatic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6: 64% -- Nudge engagement rate peaked at 78%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7: 69% -- Users began generating their own evaluation questions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8: 74% -- Sustained improvement -- 76% gain from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5212080" cy="22860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Why the Trend Goes Up -- Supporting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423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Compound Learning Effect: Each evaluation interaction reinforces the neural pathways for critical thinking, creating a positive feedback loop (MIT, 2024).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Spaced Repetition: Clarity delivers evaluation practice across multiple sessions, the most effective learning pattern known in cognitive science.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&gt;&gt; "Teams using structured evaluation maintained critical thinking within 3% of baseline while capturing 89% of speed benefits" -- McKinsey 2024.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E69F00"/>
                </a:solidFill>
                <a:latin typeface="Calibri"/>
              </a:defRPr>
            </a:pPr>
            <a:r>
              <a:t>&gt;&gt; In a competitive world where AI adoption is non-negotiable, the only differentiator left is human judgment quality. Clarity trains that judgment.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F0EDE8"/>
                </a:solidFill>
                <a:latin typeface="Calibri"/>
              </a:defRPr>
            </a:pPr>
            <a:r>
              <a:t>Key Finding: The Week 4 dip is expected and documented in learning science -- temporary confusion signals deep processing. By Week 5, users had internalized the evaluation framework and the trend became self-sustaining.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3657600" cy="8229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Nudge Engagement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78% at peak (Week 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937760"/>
            <a:ext cx="3657600" cy="8229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Self-Generated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+340% by Week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937760"/>
            <a:ext cx="3474720" cy="8229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Error Detection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38% -&gt; 71%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McKinsey Global Survey on AI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McKinsey Superagency 2025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MIT CSAIL AI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What Exists Today vs. What Clarity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C857D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731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C857D"/>
                </a:solidFill>
                <a:latin typeface="Calibri"/>
              </a:defRPr>
            </a:pPr>
            <a:r>
              <a:t>Standard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C857D"/>
                </a:solidFill>
                <a:latin typeface="Calibri"/>
              </a:defRPr>
            </a:pPr>
            <a:r>
              <a:t>AI+Disclaimers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731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Provides complete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51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51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Adds safety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325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325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Generic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325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Segments by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Clickable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87451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87451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488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Self-critique 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14883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488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231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Contextual nudges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4231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42315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4231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974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Tracks user skill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69747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6974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6974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154680"/>
            <a:ext cx="5669280" cy="256032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200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Why No Other Consumer AI Does This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5204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Current AI companies optimize for output quality, not user skill development -- their incentive is usage, not user growth.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Disclaimers ("I may make mistakes") are legal protection, not educational tools -- they are generic and not response-specific.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No existing business model incentivizes teaching users to question AI -- more trust means more usage means more revenue.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Building evaluation scaffolding requires fundamentally different product thinking -- it is a training system disguised as a conversation.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This is a new product category: AI trust calibration tools. Clarity is the first mover in this space.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154680"/>
            <a:ext cx="5303520" cy="256032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What It Costs -- Our Advantage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5204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Reasoning Lens runs 100% client-side: zero additional infrastructure cost beyond the base AI API call.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Clarity Card uses the same API call with a structured prompt -- no extra tokens, no extra latency, no extra cost.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Evaluation Nudges are rule-based: triggered locally by confidence thresholds, not by additional API calls.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&gt;&gt; Estimated marginal cost per user: $0.002/interaction (API only). Evaluation scaffolding is free.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The cost of NOT having Clarity: $4.2M/year per enterprise in undetected AI errors (IBM, 2024).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OpenAI Safety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Anthropic Research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Google AI Principles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IBM Cost of AI Errors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From Prototype to Product: The 0-&gt;1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65760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Phase 1 --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Interactive web prototype with 3 scenarios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Gemini API integration (live AI)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Smart Simulator (offline, zero setup)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Full calibration dashboard with charts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Color-blind accessible (Wong palette)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777240"/>
            <a:ext cx="365760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Phase 2 --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430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User study: Clarity vs standard AI (n=50+)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Measure actual critical thinking improvement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A/B test nudge frequency and phrasing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Partner with 5 enterprise AI teams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Iterate on evaluation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777240"/>
            <a:ext cx="365760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Phase 3 --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1430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Embeddable SDK for any AI interface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Organizational analytics dashboard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Adaptive difficulty (user skill level)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Multi-model (Claude, GPT, Gemini)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Enterprise onboarding and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Market Opportunity &amp; Resource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657600" cy="192024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productivity tools: $150B by 2027 (Gartner)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Enterprise AI governance: $6.4B by 2026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training &amp; upskilling: $12B by 2027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Clarity sits at the intersection of all three markets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840480"/>
            <a:ext cx="3657600" cy="192024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1-2: Developer beta (500 users)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3-4: Enterprise pilot (5-10 orgs)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5-6: Public launch (Product Hunt)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7+: Scale (partnerships, sales)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840480"/>
            <a:ext cx="3474720" cy="192024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886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C79A7"/>
                </a:solidFill>
                <a:latin typeface="Calibri"/>
              </a:defRPr>
            </a:pPr>
            <a:r>
              <a:t>Team &amp; Resources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60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1 Product Lead (research + design)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2 Full-Stack Engineers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1 UX Researcher (user studies)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Seed investment: $250K-$500K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McKinsey AI State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Gartner AI Market Forecast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MIT IDE Human-AI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Launch Strategy: From Prototype to Market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5623560" cy="2286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Target: 10,000+ Daily Active Users within 6 months of launch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30% average improvement in trust calibration scores across user base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85% weekly retention rate (vs. 40% industry average for productivity tools)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Net Promoter Score &gt; 60 (world-class product satisfaction)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45% reduction in AI-related errors in pilot organizations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&gt;&gt; Year 1 Revenue Target: $500K ARR (3,000 Pro + 50 Enterprise seats)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777240"/>
            <a:ext cx="5349240" cy="2286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822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Key Risks &amp; Mitigations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API Dependency: Mitigated by multi-model architecture (Gemini + GPT + Claude)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User Adoption Friction: Progressive disclosure + gamified onboarding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Competitive Response: First-mover advantage + proprietary evaluation methodology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Data Privacy: 100% client-side processing, zero data retention on our servers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Market Timing: AI trust concerns growing 3x YoY -- demand is accelerating (Edelman Trust Barometer)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Scaling Risk: SDK model allows partners to scale for us -- minimal ops 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562356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1-2: Developer Beta -- free access, 500 users, rapid feedback loop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3-4: Enterprise Pilot -- 5-10 companies, paid tier, dedicated support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5-6: Public Launch -- Product Hunt, AI newsletters, social campaigns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7+: Scale -- partnerships with AI platforms, enterprise sales team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Channels: Direct sales, content marketing, developer community, conference demos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&gt;&gt; Our Offer: The only AI tool that makes users smarter, not just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00400"/>
            <a:ext cx="534924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Monetization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Free Tier: Basic Reasoning Lens + 10 evaluations/day (acquisition)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Pro ($12/mo): Full dashboard, unlimited evaluations, custom nudges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Enterprise ($49/seat/mo): Team analytics, SSO, admin panel, priority support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API/SDK ($0.003/eval): Usage-based pricing for third-party AI integrations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How We Compete: We make AI users more valuable to their employers -- ROI is measurable and provable via calibration scores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Why Now: $4.2M/year cost of AI errors per enterprise = massive willingness to pay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Gartner AI Market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Edelman Trust Barometer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IBM Cost of Data Breach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