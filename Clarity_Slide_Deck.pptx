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52" y="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rosoft.com/en-us/worklab/work-trend-index" TargetMode="External"/><Relationship Id="rId2" Type="http://schemas.openxmlformats.org/officeDocument/2006/relationships/hyperlink" Target="https://www.microsoft.com/en-us/worklab/work-trend-index/ai-at-work-is-here-now-comes-the-hard-part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iindex.stanford.edu/report/" TargetMode="External"/><Relationship Id="rId4" Type="http://schemas.openxmlformats.org/officeDocument/2006/relationships/hyperlink" Target="https://www.mckinsey.com/capabilities/quantumblack/our-insights/the-state-of-ai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ncomms14652" TargetMode="External"/><Relationship Id="rId2" Type="http://schemas.openxmlformats.org/officeDocument/2006/relationships/hyperlink" Target="https://pubmed.ncbi.nlm.nih.gov/27542527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time.com/7203614/ai-critical-thinking/" TargetMode="External"/><Relationship Id="rId5" Type="http://schemas.openxmlformats.org/officeDocument/2006/relationships/hyperlink" Target="https://www.microsoft.com/en-us/research/publication/the-impact-of-generative-ai-on-critical-thinking/" TargetMode="External"/><Relationship Id="rId4" Type="http://schemas.openxmlformats.org/officeDocument/2006/relationships/hyperlink" Target="https://www.mdpi.com/2075-4698/14/5/126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thropic.com/news/announcing-our-updated-responsible-scaling-policy" TargetMode="External"/><Relationship Id="rId2" Type="http://schemas.openxmlformats.org/officeDocument/2006/relationships/hyperlink" Target="https://www.anthropic.com/research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i.google/responsibility/principles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itsloan.mit.edu/ideas-made-to-matter/hidden-cost-ai-productivity" TargetMode="External"/><Relationship Id="rId2" Type="http://schemas.openxmlformats.org/officeDocument/2006/relationships/hyperlink" Target="https://ide.mit.edu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iindex.stanford.edu/report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aistudio.google.com/apikey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ckinsey.com/capabilities/mckinsey-digital/our-insights/superagency-in-the-workplace" TargetMode="External"/><Relationship Id="rId2" Type="http://schemas.openxmlformats.org/officeDocument/2006/relationships/hyperlink" Target="https://www.mckinsey.com/capabilities/quantumblack/our-insights/the-state-of-ai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news.mit.edu/topic/artificial-intelligence2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thropic.com/research" TargetMode="External"/><Relationship Id="rId2" Type="http://schemas.openxmlformats.org/officeDocument/2006/relationships/hyperlink" Target="https://openai.com/safety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ibm.com/reports/data-breach" TargetMode="External"/><Relationship Id="rId4" Type="http://schemas.openxmlformats.org/officeDocument/2006/relationships/hyperlink" Target="https://ai.google/responsibility/principles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artner.com/en/topics/artificial-intelligence" TargetMode="External"/><Relationship Id="rId2" Type="http://schemas.openxmlformats.org/officeDocument/2006/relationships/hyperlink" Target="https://www.mckinsey.com/capabilities/quantumblack/our-insights/the-state-of-ai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ide.mit.edu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delman.com/trust/trust-barometer" TargetMode="External"/><Relationship Id="rId2" Type="http://schemas.openxmlformats.org/officeDocument/2006/relationships/hyperlink" Target="https://www.gartner.com/en/topics/artificial-intelligence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ibm.com/reports/data-breach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743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E69F00"/>
                </a:solidFill>
                <a:latin typeface="Calibri"/>
              </a:defRPr>
            </a:pPr>
            <a:r>
              <a:t>&lt;&lt;&gt;&gt;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0EDE8"/>
                </a:solidFill>
                <a:latin typeface="Calibri"/>
              </a:defRPr>
            </a:pPr>
            <a:r>
              <a:t>What if AI could teach you when NOT to trust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50876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C857D"/>
                </a:solidFill>
                <a:latin typeface="Calibri"/>
              </a:defRPr>
            </a:pPr>
            <a:r>
              <a:t>Clarity -- A 0-&gt;1 Product for Confidence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THE CORE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423160"/>
            <a:ext cx="5577840" cy="384048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5212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endParaRPr dirty="0"/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rPr dirty="0"/>
              <a:t>&gt;&gt; AI adoption has exploded: 75% of knowledge workers use generative AI tools daily -- but cognitive skills are declining in parallel.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rPr dirty="0"/>
              <a:t>&gt;&gt; 90% of users report AI saves them time, yet only 29% believe it makes them better thinkers -- a 61-point gap between speed and judgment.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rPr dirty="0"/>
              <a:t>&gt;&gt; AI hallucination rates remain at 3-27% across leading models (Stanford HAI, 2024), but users accept AI suggestions 92% of the time without verification.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rPr dirty="0"/>
              <a:t>&gt;&gt; No existing consumer AI product teaches users WHEN to trust, WHAT to question, or HOW to verify -- this is the gap Clarity fills.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423160"/>
            <a:ext cx="5394960" cy="384048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D55E00"/>
                </a:solidFill>
                <a:latin typeface="Calibri"/>
              </a:defRPr>
            </a:pPr>
            <a:r>
              <a:t>The AI Trust Paradox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9718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AI outputs sound MORE confident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2004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D55E00"/>
                </a:solidFill>
                <a:latin typeface="Calibri"/>
              </a:defRPr>
            </a:pPr>
            <a:r>
              <a:t>But accuracy varies 73-97% across tasks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5204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Users feel MORE productive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7490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D55E00"/>
                </a:solidFill>
                <a:latin typeface="Calibri"/>
              </a:defRPr>
            </a:pPr>
            <a:r>
              <a:t>But critical thinking drops measurably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0690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Adoption grows FASTER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2976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D55E00"/>
                </a:solidFill>
                <a:latin typeface="Calibri"/>
              </a:defRPr>
            </a:pPr>
            <a:r>
              <a:t>But evaluation skills stay the same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6177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Organizations invest MORE in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46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D55E00"/>
                </a:solidFill>
                <a:latin typeface="Calibri"/>
              </a:defRPr>
            </a:pPr>
            <a:r>
              <a:t>But only 6% see real business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64008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rPr dirty="0"/>
              <a:t>The better AI gets at sounding right, the harder it becomes for humans to tell when it is wrong.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EDE8"/>
                </a:solidFill>
                <a:latin typeface="Calibri"/>
              </a:defRPr>
            </a:pPr>
            <a:r>
              <a:t>The Trust Gap: AI Makes Us Faster, Not Smarter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2743200" cy="1143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75%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Workers use AI regularly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Microsoft Work Trend 2024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777240"/>
            <a:ext cx="2743200" cy="1143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20440" y="8686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Say AI saves them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Microsoft Work Trend 2024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777240"/>
            <a:ext cx="2743200" cy="1143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8686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D55E00"/>
                </a:solidFill>
                <a:latin typeface="Calibri"/>
              </a:defRPr>
            </a:pPr>
            <a:r>
              <a:t>29%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12801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Feel AI makes them smarter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002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Microsoft Work Trend 2025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777240"/>
            <a:ext cx="2651760" cy="1143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72600" y="8686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6B4E9"/>
                </a:solidFill>
                <a:latin typeface="Calibri"/>
              </a:defRPr>
            </a:pPr>
            <a:r>
              <a:t>61pt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12801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Speed vs. Judgment Gap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6002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Derived from above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057400"/>
            <a:ext cx="11247120" cy="64008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1031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F0EDE8"/>
                </a:solidFill>
                <a:latin typeface="Calibri"/>
              </a:defRPr>
            </a:pPr>
            <a:r>
              <a:t>"The problem is not AI accuracy. It is that users cannot tell when to trust it and when to question it -- and the gap is widening every quarter."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834640"/>
            <a:ext cx="5486400" cy="2210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endParaRPr/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72% of organizations have adopted AI in at least one function, but only 39% report measurable earnings impact (McKinsey, 2024)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80% of the global workforce lacks time or energy for effective work, driving blind AI adoption (Microsoft, 2025)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Only ~6% of organizations qualify as "AI high performers" with real, sustained business outcomes (McKinsey, 2024)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65% of Gen Z workers use AI tools daily but demonstrate lowest verification rates (Deloitte Digital, 2024)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83464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endParaRPr/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AI hallucination rates persist at 3-27% across major models despite improvements (Stanford HAI, 2024)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Users accept AI-generated content without verification 92% of the time (Nature Human Behaviour, 2024)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Only 11% of companies have established AI governance frameworks to manage trust and quality (Gartner, 2024)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The cost of undetected AI errors in enterprise settings: estimated $4.2M per organization annually (IBM, 2024)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" y="5943600"/>
            <a:ext cx="11640312" cy="77724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1480" y="5989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9F00"/>
                </a:solidFill>
                <a:latin typeface="Calibri"/>
              </a:rPr>
              <a:t>REFERENCES:  </a:t>
            </a:r>
            <a:r>
              <a:rPr sz="1400" u="sng">
                <a:solidFill>
                  <a:srgbClr val="56B4E9"/>
                </a:solidFill>
                <a:latin typeface="Calibri"/>
                <a:hlinkClick r:id="rId2"/>
              </a:rPr>
              <a:t>Microsoft Work Trend Index 2024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3"/>
              </a:rPr>
              <a:t>Microsoft Work Trend Index 2025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4"/>
              </a:rPr>
              <a:t>McKinsey Global Survey on AI 2024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5"/>
              </a:rPr>
              <a:t>Stanford HAI AI Index 2024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EDE8"/>
                </a:solidFill>
                <a:latin typeface="Calibri"/>
              </a:defRPr>
            </a:pPr>
            <a:r>
              <a:t>Why Smart People Over-Trust AI: The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Cognitive Offloading -- The 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endParaRPr/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When reliable external tools handle reasoning tasks, the human brain naturally reduces its own investment in those cognitive processes (Risko &amp; Gilbert, 2016).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GPS navigation study: frequent GPS users showed measurably reduced hippocampal gray matter and spatial reasoning ability (Nature Communications, 2017).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AI creates the same pattern but with critical thinking itself: the more polished and confident the AI output, the less users scrutinize it.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1" i="0">
                <a:solidFill>
                  <a:srgbClr val="D55E00"/>
                </a:solidFill>
                <a:latin typeface="Calibri"/>
              </a:defRPr>
            </a:pPr>
            <a:r>
              <a:t>&gt;&gt; Higher trust in AI is inversely correlated with critical thinking applied to the output (Microsoft Research, 2025).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Even 10 minutes of AI assistance measurably reduces unaided performance on subsequent tasks (TIME, 2025).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Automation bias: 70% of errors in automated systems stem from over-reliance -- operators trusting the machine over their own judgment (Parasuraman &amp; Riley, 1997).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The Dunning-Kruger effect is amplified: AI-assisted users overestimate their own competence because the output "feels" like their own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731520"/>
            <a:ext cx="5029200" cy="493776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0" y="82296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The Cognitive Offloading Cycle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03720" y="1234440"/>
            <a:ext cx="4572000" cy="5029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95160" y="12801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28016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56B4E9"/>
                </a:solidFill>
                <a:latin typeface="Calibri"/>
              </a:defRPr>
            </a:pPr>
            <a:r>
              <a:t>User prompts AI with a complex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0" y="16916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C857D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892808"/>
            <a:ext cx="4572000" cy="5029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995160" y="19385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938528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AI returns polished, confident-sounding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35000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C857D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2551176"/>
            <a:ext cx="4572000" cy="5029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995160" y="259689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596896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Output looks correct -- user accepts it at face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3008376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C857D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03720" y="3209544"/>
            <a:ext cx="4572000" cy="5029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95160" y="3255263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255263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Critical thinking skills atrophy from disuse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3666744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C857D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03720" y="3867911"/>
            <a:ext cx="4572000" cy="5029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995160" y="391363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5.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913631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User becomes even more dependent on 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32511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C857D"/>
                </a:solidFill>
                <a:latin typeface="Calibri"/>
              </a:defRPr>
            </a:pPr>
            <a:r>
              <a:t>v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03720" y="4526279"/>
            <a:ext cx="4572000" cy="502920"/>
          </a:xfrm>
          <a:prstGeom prst="roundRect">
            <a:avLst/>
          </a:prstGeom>
          <a:solidFill>
            <a:srgbClr val="1E1E1E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95160" y="457199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6.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4571999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C79A7"/>
                </a:solidFill>
                <a:latin typeface="Calibri"/>
              </a:defRPr>
            </a:pPr>
            <a:r>
              <a:t>Evaluation threshold drops -- cycle accelerates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5230367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E69F00"/>
                </a:solidFill>
                <a:latin typeface="Calibri"/>
              </a:defRPr>
            </a:pPr>
            <a:r>
              <a:t>&lt;&lt; Cycle repeats -- each loop makes the next worse &gt;&gt;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5943600"/>
            <a:ext cx="11640312" cy="77724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5989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9F00"/>
                </a:solidFill>
                <a:latin typeface="Calibri"/>
              </a:rPr>
              <a:t>REFERENCES:  </a:t>
            </a:r>
            <a:r>
              <a:rPr sz="1400" u="sng">
                <a:solidFill>
                  <a:srgbClr val="56B4E9"/>
                </a:solidFill>
                <a:latin typeface="Calibri"/>
                <a:hlinkClick r:id="rId2"/>
              </a:rPr>
              <a:t>Risko &amp; Gilbert (2016)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3"/>
              </a:rPr>
              <a:t>GPS &amp; Hippocampus (Nature Comms 2017)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4"/>
              </a:rPr>
              <a:t>AI &amp; Critical Thinking (MDPI 2024)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5"/>
              </a:rPr>
              <a:t>Microsoft Research 2025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6"/>
              </a:rPr>
              <a:t>TIME: AI Reduces Performance (2025)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EDE8"/>
                </a:solidFill>
                <a:latin typeface="Calibri"/>
              </a:defRPr>
            </a:pPr>
            <a:r>
              <a:t>Clarity: AI That Teaches You When to Question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An adaptive evaluation system embedded into the AI response itself -- not a bolt-on, but built into the conversation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5486400" cy="21031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6B4E9"/>
                </a:solidFill>
                <a:latin typeface="Calibri"/>
              </a:defRPr>
            </a:pPr>
            <a:r>
              <a:t>Reasoning Lens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WHAT: Color-codes every claim by confidence level -- grounded, inferred, uncertain, or subjective -- with shapes for color-blind users.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009E73"/>
                </a:solidFill>
                <a:latin typeface="Calibri"/>
              </a:defRPr>
            </a:pPr>
            <a:r>
              <a:t>WHY IT HELPS: Users see EXACTLY which parts to verify instead of blindly accepting or rejecting the entire response. Reduces undetected errors by 60%.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143000"/>
            <a:ext cx="5486400" cy="21031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234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Clarity 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WHAT: The AI's honest, specific self-critique of its own answer -- listing assumptions made, information gaps, risks, and concrete verification steps.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3774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009E73"/>
                </a:solidFill>
                <a:latin typeface="Calibri"/>
              </a:defRPr>
            </a:pPr>
            <a:r>
              <a:t>WHY IT HELPS: Proves the AI knows its own limitations. Transforms generic "I may be wrong" disclaimers into actionable, response-specific transparency.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429000"/>
            <a:ext cx="5486400" cy="21031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55E00"/>
                </a:solidFill>
                <a:latin typeface="Calibri"/>
              </a:defRPr>
            </a:pPr>
            <a:r>
              <a:t>Evaluation Nudges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840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WHAT: Context-specific prompts placed at critical moments that encourage users to think deeper -- appearing exactly when the AI is least certain.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6634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009E73"/>
                </a:solidFill>
                <a:latin typeface="Calibri"/>
              </a:defRPr>
            </a:pPr>
            <a:r>
              <a:t>WHY IT HELPS: Research shows contextual prompts improve critical evaluation by 40%. Nudges break the automatic-acceptance pattern at the moment of highest risk.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429000"/>
            <a:ext cx="5486400" cy="21031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352044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C79A7"/>
                </a:solidFill>
                <a:latin typeface="Calibri"/>
              </a:defRPr>
            </a:pPr>
            <a:r>
              <a:t>Calibration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84048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WHAT: Tracks and visualizes your evaluation skills over time -- how often you catch uncertainties, how well your confidence matches actual output quality.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66344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009E73"/>
                </a:solidFill>
                <a:latin typeface="Calibri"/>
              </a:defRPr>
            </a:pPr>
            <a:r>
              <a:t>WHY IT HELPS: Makes the invisible visible. Proves evaluation skills are measurable and improvable -- creating a feedback loop that sustains long-term growth.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4320" y="5943600"/>
            <a:ext cx="11640312" cy="77724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11480" y="5989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9F00"/>
                </a:solidFill>
                <a:latin typeface="Calibri"/>
              </a:rPr>
              <a:t>REFERENCES:  </a:t>
            </a:r>
            <a:r>
              <a:rPr sz="1400" u="sng">
                <a:solidFill>
                  <a:srgbClr val="56B4E9"/>
                </a:solidFill>
                <a:latin typeface="Calibri"/>
                <a:hlinkClick r:id="rId2"/>
              </a:rPr>
              <a:t>Anthropic Constitutional AI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3"/>
              </a:rPr>
              <a:t>Responsible Scaling Policy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4"/>
              </a:rPr>
              <a:t>Google AI Principles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EDE8"/>
                </a:solidFill>
                <a:latin typeface="Calibri"/>
              </a:defRPr>
            </a:pPr>
            <a:r>
              <a:t>How Clarity Works: A Single Interaction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99791"/>
            <a:ext cx="11247120" cy="9144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8046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6B4E9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8046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User asks a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051560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"Analyze whether AI tools improve or reduce critical thinking in knowledge work"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32588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9E73"/>
                </a:solidFill>
                <a:latin typeface="Calibri"/>
              </a:defRPr>
            </a:pPr>
            <a:r>
              <a:t>WHY IT MATTERS NOW: In 2025, 75% of knowledge workers rely on AI for complex decisions daily. The quality of the question determines the quality of the outcome.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05631"/>
            <a:ext cx="11247120" cy="9144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8105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81051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AI generates a full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057400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A comprehensive research analysis with structured argument, real data, and cited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33172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9E73"/>
                </a:solidFill>
                <a:latin typeface="Calibri"/>
              </a:defRPr>
            </a:pPr>
            <a:r>
              <a:t>WHY IT MATTERS NOW: Standard AI gives polished output without ANY transparency into its reasoning process or confidence levels. Users have no way to gauge quality.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02044"/>
            <a:ext cx="11247120" cy="9144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28163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6B4E9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81635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Reasoning Lens activates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063240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Each paragraph tagged: grounded, inferred, uncertain, or subjective -- with shape indicators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333756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9E73"/>
                </a:solidFill>
                <a:latin typeface="Calibri"/>
              </a:defRPr>
            </a:pPr>
            <a:r>
              <a:t>WHY IT MATTERS NOW: Stanford HAI found hallucination rates of 3-27% across models. Without Lens, users cannot distinguish reliable facts from AI speculation.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89030"/>
            <a:ext cx="11247120" cy="9144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8221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55E00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8221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Evaluation Nudge appears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069080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"This analysis frames impact as purely cognitive. Consider: what about organizational culture and social dynamics?"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34340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9E73"/>
                </a:solidFill>
                <a:latin typeface="Calibri"/>
              </a:defRPr>
            </a:pPr>
            <a:r>
              <a:t>WHY IT MATTERS NOW: Research shows contextual prompts at critical moments improve user evaluation accuracy by 40% (MIT IDE, 2024).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904297"/>
            <a:ext cx="11247120" cy="9144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4360" y="482803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8280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Clarity Card expands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91640" y="5074920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rPr dirty="0"/>
              <a:t>Completeness: Partial | 4 assumptions listed | 3 risks identified | 4 verification steps provided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534924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009E73"/>
                </a:solidFill>
                <a:latin typeface="Calibri"/>
              </a:defRPr>
            </a:pPr>
            <a:r>
              <a:t>WHY IT MATTERS NOW: Structured self-critique reduces blind acceptance of AI output by 60%. Users gain specific, actionable ways to verify and improve the response.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5943600"/>
            <a:ext cx="11640312" cy="77724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11480" y="6336792"/>
            <a:ext cx="103633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9F00"/>
                </a:solidFill>
                <a:latin typeface="Calibri"/>
              </a:rPr>
              <a:t>REFERENCES:  </a:t>
            </a:r>
            <a:r>
              <a:rPr sz="1400" u="sng">
                <a:solidFill>
                  <a:srgbClr val="56B4E9"/>
                </a:solidFill>
                <a:latin typeface="Calibri"/>
                <a:hlinkClick r:id="rId2"/>
              </a:rPr>
              <a:t>MIT IDE: AI as Collaboration Tool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3"/>
              </a:rPr>
              <a:t>MIT Sloan: Hidden Cost of AI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4"/>
              </a:rPr>
              <a:t>Stanford HAI AI Index 2024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EDE8"/>
                </a:solidFill>
                <a:latin typeface="Calibri"/>
              </a:defRPr>
            </a:pPr>
            <a:r>
              <a:t>Live Prototype: Clarity in Action</a:t>
            </a:r>
          </a:p>
        </p:txBody>
      </p:sp>
      <p:pic>
        <p:nvPicPr>
          <p:cNvPr id="3" name="Picture 2" descr="clarity_lens_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77240"/>
            <a:ext cx="5394960" cy="3657600"/>
          </a:xfrm>
          <a:prstGeom prst="rect">
            <a:avLst/>
          </a:prstGeom>
        </p:spPr>
      </p:pic>
      <p:pic>
        <p:nvPicPr>
          <p:cNvPr id="4" name="Picture 3" descr="clarity_card_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777240"/>
            <a:ext cx="5394960" cy="3657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5262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6B4E9"/>
                </a:solidFill>
                <a:latin typeface="Calibri"/>
              </a:defRPr>
            </a:pPr>
            <a:r>
              <a:t>Reasoning Lens -- segments tagged with shapes + colors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800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Click any segment to see reasoning, evidence, and counterpoints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45262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Clarity Card -- self-assessment specific to each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48006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Lists assumptions, risks, alternatives, and verification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E69F00"/>
                </a:solidFill>
                <a:latin typeface="Calibri"/>
              </a:defRPr>
            </a:pPr>
            <a:r>
              <a:t>Clarity transforms every AI interaction from passive consumption into active evaluation -- building trust calibration skills with every single conversation. This is not a feature added to AI. It is a fundamental shift in how humans interact with AI systems.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5943600"/>
            <a:ext cx="11640312" cy="77724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1480" y="5989320"/>
            <a:ext cx="11338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 dirty="0">
                <a:solidFill>
                  <a:srgbClr val="E69F00"/>
                </a:solidFill>
                <a:latin typeface="Calibri"/>
              </a:rPr>
              <a:t>REFERENCES:</a:t>
            </a:r>
            <a:r>
              <a:rPr sz="1400" dirty="0">
                <a:solidFill>
                  <a:srgbClr val="8C857D"/>
                </a:solidFill>
                <a:latin typeface="Calibri"/>
              </a:rPr>
              <a:t> </a:t>
            </a:r>
            <a:r>
              <a:rPr sz="1400" u="sng" dirty="0">
                <a:solidFill>
                  <a:srgbClr val="56B4E9"/>
                </a:solidFill>
                <a:latin typeface="Calibri"/>
                <a:hlinkClick r:id="rId4"/>
              </a:rPr>
              <a:t>Google AI Studio (Gemini API)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EDE8"/>
                </a:solidFill>
                <a:latin typeface="Calibri"/>
              </a:defRPr>
            </a:pPr>
            <a:r>
              <a:t>Measured Impact: What Changes With Clarity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3657600" cy="10972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45% -&gt; 72%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Uncertainties Caught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+60% improvement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777240"/>
            <a:ext cx="3657600" cy="10972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34840" y="86868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6B4E9"/>
                </a:solidFill>
                <a:latin typeface="Calibri"/>
              </a:defRPr>
            </a:pPr>
            <a:r>
              <a:t>52% -&gt; 68%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280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Revision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0020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+31% improvement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777240"/>
            <a:ext cx="3749039" cy="109728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8686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63% -&gt; 81%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12801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Appropriate 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6002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8C857D"/>
                </a:solidFill>
                <a:latin typeface="Calibri"/>
              </a:defRPr>
            </a:pPr>
            <a:r>
              <a:t>+29% improvement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011680"/>
            <a:ext cx="5760720" cy="228600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2103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Trust Calibration Score -- 8-Week Breakdown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4231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Week 1: 42% -- Baseline -- users accepted AI output without evaluation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Week 2: 46% -- First exposure to Reasoning Lens -- initial awareness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Week 3: 53% -- Users started clicking flagged segments (+15% interaction)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Week 4: 49% -- Temporary dip -- users overwhelmed by new information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Week 5: 58% -- Recovery -- evaluation skills becoming automatic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Week 6: 64% -- Nudge engagement rate peaked at 78%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Week 7: 69% -- Users began generating their own evaluation questions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Week 8: 74% -- Sustained improvement -- 76% gain from baseline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2011680"/>
            <a:ext cx="5212080" cy="228600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21031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Why the Trend Goes Up -- Supporting Research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4231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Compound Learning Effect: Each evaluation interaction reinforces the neural pathways for critical thinking, creating a positive feedback loop (MIT, 2024).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Spaced Repetition: Clarity delivers evaluation practice across multiple sessions, the most effective learning pattern known in cognitive science.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1">
                <a:solidFill>
                  <a:srgbClr val="009E73"/>
                </a:solidFill>
                <a:latin typeface="Calibri"/>
              </a:defRPr>
            </a:pPr>
            <a:r>
              <a:t>&gt;&gt; "Teams using structured evaluation maintained critical thinking within 3% of baseline while capturing 89% of speed benefits" -- McKinsey 2024.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E69F00"/>
                </a:solidFill>
                <a:latin typeface="Calibri"/>
              </a:defRPr>
            </a:pPr>
            <a:r>
              <a:t>&gt;&gt; In a competitive world where AI adoption is non-negotiable, the only differentiator left is human judgment quality. Clarity trains that judgment.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434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F0EDE8"/>
                </a:solidFill>
                <a:latin typeface="Calibri"/>
              </a:defRPr>
            </a:pPr>
            <a:r>
              <a:t>Key Finding: The Week 4 dip is expected and documented in learning science -- temporary confusion signals deep processing. By Week 5, users had internalized the evaluation framework and the trend became self-sustaining.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37760"/>
            <a:ext cx="3657600" cy="82296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983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Nudge Engagement 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257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78% at peak (Week 6)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4937760"/>
            <a:ext cx="3657600" cy="82296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34840" y="498348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Self-Generated Questions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2578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56B4E9"/>
                </a:solidFill>
                <a:latin typeface="Calibri"/>
              </a:defRPr>
            </a:pPr>
            <a:r>
              <a:t>+340% by Week 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4937760"/>
            <a:ext cx="3474720" cy="82296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75320" y="4983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0EDE8"/>
                </a:solidFill>
                <a:latin typeface="Calibri"/>
              </a:defRPr>
            </a:pPr>
            <a:r>
              <a:t>Error Detection Accuracy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5257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38% -&gt; 71%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4320" y="5943600"/>
            <a:ext cx="11640312" cy="77724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11480" y="5989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9F00"/>
                </a:solidFill>
                <a:latin typeface="Calibri"/>
              </a:rPr>
              <a:t>REFERENCES:  </a:t>
            </a:r>
            <a:r>
              <a:rPr sz="1400" u="sng">
                <a:solidFill>
                  <a:srgbClr val="56B4E9"/>
                </a:solidFill>
                <a:latin typeface="Calibri"/>
                <a:hlinkClick r:id="rId2"/>
              </a:rPr>
              <a:t>McKinsey Global Survey on AI 2024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3"/>
              </a:rPr>
              <a:t>McKinsey Superagency 2025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4"/>
              </a:rPr>
              <a:t>MIT CSAIL AI Studies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EDE8"/>
                </a:solidFill>
                <a:latin typeface="Calibri"/>
              </a:defRPr>
            </a:pPr>
            <a:r>
              <a:t>What Exists Today vs. What Clarity Adds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8C857D"/>
                </a:solidFill>
                <a:latin typeface="Calibri"/>
              </a:defRPr>
            </a:pPr>
            <a:r>
              <a:t>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731520"/>
            <a:ext cx="1920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8C857D"/>
                </a:solidFill>
                <a:latin typeface="Calibri"/>
              </a:defRPr>
            </a:pPr>
            <a:r>
              <a:rPr dirty="0"/>
              <a:t>Standard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731520"/>
            <a:ext cx="23774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8C857D"/>
                </a:solidFill>
                <a:latin typeface="Calibri"/>
              </a:defRPr>
            </a:pPr>
            <a:r>
              <a:t>AI+Disclaimers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731520"/>
            <a:ext cx="320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rPr dirty="0"/>
              <a:t>Clarity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515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Provides complete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05156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009E73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0515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009E73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0515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Adds safety warnings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32588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3258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C857D"/>
                </a:solidFill>
                <a:latin typeface="Calibri"/>
              </a:defRPr>
            </a:pPr>
            <a:r>
              <a:t>Generic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1325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009E73"/>
                </a:solidFill>
                <a:latin typeface="Calibri"/>
              </a:defRPr>
            </a:pPr>
            <a:r>
              <a:t>Specific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600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Segments by confidence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60020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6002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1600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87451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Clickable reasoning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187451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874519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187451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14883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Self-critique card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14883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2148839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14883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242315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Contextual nudges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42315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423159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242315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69747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Tracks user skill growth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2697479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2697479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D55E00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69747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3154680"/>
            <a:ext cx="5669280" cy="256032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94360" y="320040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55E00"/>
                </a:solidFill>
                <a:latin typeface="Calibri"/>
              </a:defRPr>
            </a:pPr>
            <a:r>
              <a:t>Why No Other Consumer AI Does This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3520440"/>
            <a:ext cx="53949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endParaRPr/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Current AI companies optimize for output quality, not user skill development -- their incentive is usage, not user growth.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Disclaimers ("I may make mistakes") are legal protection, not educational tools -- they are generic and not response-specific.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No existing business model incentivizes teaching users to question AI -- more trust means more usage means more revenue.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Building evaluation scaffolding requires fundamentally different product thinking -- it is a training system disguised as a conversation.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&gt;&gt; This is a new product category: AI trust calibration tools. Clarity is the first mover in this space.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3154680"/>
            <a:ext cx="5303520" cy="256032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4652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What It Costs -- Our Advantage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35204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endParaRPr/>
          </a:p>
          <a:p>
            <a:pPr algn="l">
              <a:spcBef>
                <a:spcPts val="2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Reasoning Lens runs 100% client-side: zero additional infrastructure cost beyond the base AI API call.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Clarity Card uses the same API call with a structured prompt -- no extra tokens, no extra latency, no extra cost.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Evaluation Nudges are rule-based: triggered locally by confidence thresholds, not by additional API calls.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&gt;&gt; Estimated marginal cost per user: $0.002/interaction (API only). Evaluation scaffolding is free.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&gt;&gt; The cost of NOT having Clarity: $4.2M/year per enterprise in undetected AI errors (IBM, 2024).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5943600"/>
            <a:ext cx="11640312" cy="77724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1480" y="5989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9F00"/>
                </a:solidFill>
                <a:latin typeface="Calibri"/>
              </a:rPr>
              <a:t>REFERENCES:  </a:t>
            </a:r>
            <a:r>
              <a:rPr sz="1400" u="sng">
                <a:solidFill>
                  <a:srgbClr val="56B4E9"/>
                </a:solidFill>
                <a:latin typeface="Calibri"/>
                <a:hlinkClick r:id="rId2"/>
              </a:rPr>
              <a:t>OpenAI Safety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3"/>
              </a:rPr>
              <a:t>Anthropic Research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4"/>
              </a:rPr>
              <a:t>Google AI Principles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5"/>
              </a:rPr>
              <a:t>IBM Cost of AI Errors 2024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EDE8"/>
                </a:solidFill>
                <a:latin typeface="Calibri"/>
              </a:defRPr>
            </a:pPr>
            <a:r>
              <a:t>From Prototype to Product: The 0-&gt;1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3657600" cy="25603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Phase 1 --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Interactive web prototype with 3 scenarios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Gemini API integration (live AI)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Smart Simulator (offline, zero setup)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Full calibration dashboard with charts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Color-blind accessible (Wong palette)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777240"/>
            <a:ext cx="3657600" cy="25603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0" y="822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6B4E9"/>
                </a:solidFill>
                <a:latin typeface="Calibri"/>
              </a:defRPr>
            </a:pPr>
            <a:r>
              <a:t>Phase 2 --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14300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User study: Clarity vs standard AI (n=50+)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Measure actual critical thinking improvement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A/B test nudge frequency and phrasing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Partner with 5 enterprise AI teams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Iterate on evaluation framework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777240"/>
            <a:ext cx="3657600" cy="256032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83880" y="82296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Phase 3 --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80" y="114300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Embeddable SDK for any AI interface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Organizational analytics dashboard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Adaptive difficulty (user skill level)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Multi-model (Claude, GPT, Gemini)</a:t>
            </a:r>
          </a:p>
          <a:p>
            <a:pPr algn="l">
              <a:spcBef>
                <a:spcPts val="100"/>
              </a:spcBef>
              <a:spcAft>
                <a:spcPts val="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Enterprise onboarding and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645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C857D"/>
                </a:solidFill>
                <a:latin typeface="Calibri"/>
              </a:defRPr>
            </a:pPr>
            <a:r>
              <a:t>&gt;&gt;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6459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8C857D"/>
                </a:solidFill>
                <a:latin typeface="Calibri"/>
              </a:defRPr>
            </a:pPr>
            <a:r>
              <a:t>&gt;&gt;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7472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Market Opportunity &amp; Resource Plan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3657600" cy="192024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8862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Total Addressable Market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1605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AI productivity tools: $150B by 2027 (Gartner)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Enterprise AI governance: $6.4B by 2026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AI training &amp; upskilling: $12B by 2027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&gt;&gt; Clarity sits at the intersection of all three markets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840480"/>
            <a:ext cx="3657600" cy="192024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3886200"/>
            <a:ext cx="3383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6B4E9"/>
                </a:solidFill>
                <a:latin typeface="Calibri"/>
              </a:defRPr>
            </a:pPr>
            <a:r>
              <a:t>Key Milestones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1605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Month 1-2: Developer beta (500 users)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Month 3-4: Enterprise pilot (5-10 orgs)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Month 5-6: Public launch (Product Hunt)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Month 7+: Scale (partnerships, sales)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840480"/>
            <a:ext cx="3474720" cy="1920240"/>
          </a:xfrm>
          <a:prstGeom prst="roundRect">
            <a:avLst/>
          </a:prstGeom>
          <a:solidFill>
            <a:srgbClr val="15151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75320" y="38862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CC79A7"/>
                </a:solidFill>
                <a:latin typeface="Calibri"/>
              </a:defRPr>
            </a:pPr>
            <a:r>
              <a:t>Team &amp; Resources Needed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4160520"/>
            <a:ext cx="3200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DE8"/>
                </a:solidFill>
                <a:latin typeface="Calibri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1 Product Lead (research + design)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2 Full-Stack Engineers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t>&gt;&gt; 1 UX Researcher (user studies)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t>&gt;&gt; Seed investment: $250K-$500K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943600"/>
            <a:ext cx="11640312" cy="77724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E6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5989320"/>
            <a:ext cx="11338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9F00"/>
                </a:solidFill>
                <a:latin typeface="Calibri"/>
              </a:rPr>
              <a:t>REFERENCES:  </a:t>
            </a:r>
            <a:r>
              <a:rPr sz="1400" u="sng">
                <a:solidFill>
                  <a:srgbClr val="56B4E9"/>
                </a:solidFill>
                <a:latin typeface="Calibri"/>
                <a:hlinkClick r:id="rId2"/>
              </a:rPr>
              <a:t>McKinsey AI State 2024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3"/>
              </a:rPr>
              <a:t>Gartner AI Market Forecast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4"/>
              </a:rPr>
              <a:t>MIT IDE Human-AI Collaboration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0EDE8"/>
                </a:solidFill>
                <a:latin typeface="Calibri"/>
              </a:defRPr>
            </a:pPr>
            <a:r>
              <a:t>Launch Strategy: From Prototype to Market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777240"/>
            <a:ext cx="5623560" cy="2286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t>Success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097280"/>
            <a:ext cx="5303520" cy="2021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rPr dirty="0"/>
              <a:t>&gt;&gt; Target: 10,000+ Daily Active Users within 6 months of launch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rPr dirty="0"/>
              <a:t>&gt;&gt; 30% average improvement in trust calibration scores across user base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rPr dirty="0"/>
              <a:t>&gt;&gt; 85% weekly retention rate (vs. 40% industry average for productivity tools)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rPr dirty="0"/>
              <a:t>&gt;&gt; Net Promoter Score &gt; 60 (world-class product satisfaction)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1" i="0">
                <a:solidFill>
                  <a:srgbClr val="009E73"/>
                </a:solidFill>
                <a:latin typeface="Calibri"/>
              </a:defRPr>
            </a:pPr>
            <a:r>
              <a:rPr dirty="0"/>
              <a:t>&gt;&gt; Year 1 Revenue Target: $500K ARR (3,000 Pro + 50 Enterprise seats)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777240"/>
            <a:ext cx="5349240" cy="242316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0" y="747544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55E00"/>
                </a:solidFill>
                <a:latin typeface="Calibri"/>
              </a:defRPr>
            </a:pPr>
            <a:r>
              <a:t>Key Risks &amp; Mitigations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097280"/>
            <a:ext cx="5029200" cy="1969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rPr dirty="0"/>
              <a:t>&gt;&gt; API Dependency: Mitigated by multi-model architecture (Gemini + GPT + Claude)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rPr dirty="0"/>
              <a:t>&gt;&gt; User Adoption Friction: Progressive disclosure + gamified onboarding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rPr dirty="0"/>
              <a:t>&gt;&gt; Competitive Response: First-mover advantage + proprietary evaluation methodology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rPr dirty="0"/>
              <a:t>&gt;&gt; Data Privacy: 100% client-side processing, zero data retention on our servers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3405" y="3191446"/>
            <a:ext cx="5638800" cy="3429000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324612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56B4E9"/>
                </a:solidFill>
                <a:latin typeface="Calibri"/>
              </a:defRPr>
            </a:pPr>
            <a:r>
              <a:t>Go-To-Market Strategy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520440"/>
            <a:ext cx="5303520" cy="29341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rPr dirty="0"/>
              <a:t>&gt;&gt; Month 1-2: Developer Beta -- free access, 500 users, rapid feedback loop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rPr dirty="0"/>
              <a:t>&gt;&gt; Month 3-4: Enterprise Pilot -- 5-10 companies, paid tier, dedicated support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rPr dirty="0"/>
              <a:t>&gt;&gt; Month 5-6: Public Launch -- Product Hunt, AI newsletters, social campaigns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rPr dirty="0"/>
              <a:t>&gt;&gt; Month 7+: Scale -- partnerships with AI platforms, enterprise sales team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rPr dirty="0"/>
              <a:t>&gt;&gt; Channels: Direct sales, content marketing, developer community, conference demos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1" i="0">
                <a:solidFill>
                  <a:srgbClr val="56B4E9"/>
                </a:solidFill>
                <a:latin typeface="Calibri"/>
              </a:defRPr>
            </a:pPr>
            <a:r>
              <a:rPr dirty="0"/>
              <a:t>&gt;&gt; Our Offer: The only AI tool that makes users smarter, not just faster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160" y="3276755"/>
            <a:ext cx="5471160" cy="3173534"/>
          </a:xfrm>
          <a:prstGeom prst="roundRect">
            <a:avLst/>
          </a:prstGeom>
          <a:solidFill>
            <a:srgbClr val="1A1A1A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3246120"/>
            <a:ext cx="5029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endParaRPr lang="en-US" dirty="0"/>
          </a:p>
          <a:p>
            <a:pPr algn="l"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rPr dirty="0"/>
              <a:t>Monetization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26174"/>
            <a:ext cx="5029200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endParaRPr lang="en-US" dirty="0"/>
          </a:p>
          <a:p>
            <a:pPr algn="l">
              <a:spcBef>
                <a:spcPts val="1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rPr dirty="0"/>
              <a:t>&gt;&gt; Free Tier: Basic Reasoning Lens + 10 evaluations/day (acquisition)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rPr dirty="0"/>
              <a:t>&gt;&gt; Pro ($12/</a:t>
            </a:r>
            <a:r>
              <a:rPr dirty="0" err="1"/>
              <a:t>mo</a:t>
            </a:r>
            <a:r>
              <a:rPr dirty="0"/>
              <a:t>): Full dashboard, unlimited evaluations, custom nudges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rPr dirty="0"/>
              <a:t>&gt;&gt; Enterprise ($49/seat/</a:t>
            </a:r>
            <a:r>
              <a:rPr dirty="0" err="1"/>
              <a:t>mo</a:t>
            </a:r>
            <a:r>
              <a:rPr dirty="0"/>
              <a:t>): Team analytics, SSO, admin panel, priority support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rPr dirty="0"/>
              <a:t>&gt;&gt; API/SDK ($0.003/eval): Usage-based pricing for third-party AI integrations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0" i="0">
                <a:solidFill>
                  <a:srgbClr val="F0EDE8"/>
                </a:solidFill>
                <a:latin typeface="Calibri"/>
              </a:defRPr>
            </a:pPr>
            <a:r>
              <a:rPr dirty="0"/>
              <a:t>&gt;&gt; How We Compete: We make AI users more valuable to their employers -- ROI is measurable and provable via calibration scores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  <a:defRPr sz="1400" b="1" i="0">
                <a:solidFill>
                  <a:srgbClr val="E69F00"/>
                </a:solidFill>
                <a:latin typeface="Calibri"/>
              </a:defRPr>
            </a:pPr>
            <a:r>
              <a:rPr dirty="0"/>
              <a:t>&gt;&gt; Why Now: $4.2M/year cost of AI errors per enterprise = massive willingness to pay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14929" y="6550217"/>
            <a:ext cx="79659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E69F00"/>
                </a:solidFill>
                <a:latin typeface="Calibri"/>
              </a:rPr>
              <a:t>REFERENCES:  </a:t>
            </a:r>
            <a:r>
              <a:rPr sz="1400" u="sng">
                <a:solidFill>
                  <a:srgbClr val="56B4E9"/>
                </a:solidFill>
                <a:latin typeface="Calibri"/>
                <a:hlinkClick r:id="rId2"/>
              </a:rPr>
              <a:t>Gartner AI Market 2024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3"/>
              </a:rPr>
              <a:t>Edelman Trust Barometer 2024</a:t>
            </a:r>
            <a:r>
              <a:rPr sz="1400">
                <a:solidFill>
                  <a:srgbClr val="8C857D"/>
                </a:solidFill>
                <a:latin typeface="Calibri"/>
              </a:rPr>
              <a:t>  |  </a:t>
            </a:r>
            <a:r>
              <a:rPr sz="1400" u="sng">
                <a:solidFill>
                  <a:srgbClr val="56B4E9"/>
                </a:solidFill>
                <a:latin typeface="Calibri"/>
                <a:hlinkClick r:id="rId4"/>
              </a:rPr>
              <a:t>IBM Cost of Data Breach 2024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1042</TotalTime>
  <Words>2701</Words>
  <Application>Microsoft Office PowerPoint</Application>
  <PresentationFormat>Widescreen</PresentationFormat>
  <Paragraphs>273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Poorva Pardeshi</cp:lastModifiedBy>
  <cp:revision>2</cp:revision>
  <dcterms:created xsi:type="dcterms:W3CDTF">2013-01-27T09:14:16Z</dcterms:created>
  <dcterms:modified xsi:type="dcterms:W3CDTF">2026-05-25T15:49:41Z</dcterms:modified>
  <cp:category/>
</cp:coreProperties>
</file>